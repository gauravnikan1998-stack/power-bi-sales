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C3FE120-E9EA-4C0D-9E73-EBC8E7F497B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9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0270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C54C6-5493-0EF3-9629-E91529A1F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EBD634-E1B1-26DC-B50F-98EA66915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F91AF-F53A-C43E-C1FA-2D12B775A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675F4-A63C-0D12-19E8-57149230F1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743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6400800" y="-548640"/>
            <a:ext cx="3840480" cy="3840480"/>
          </a:xfrm>
          <a:prstGeom prst="ellipse">
            <a:avLst/>
          </a:prstGeom>
          <a:solidFill>
            <a:srgbClr val="C9A84C">
              <a:alpha val="8000"/>
            </a:srgbClr>
          </a:solidFill>
          <a:ln w="12700">
            <a:solidFill>
              <a:srgbClr val="C9A84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-548640" y="3474720"/>
            <a:ext cx="2743200" cy="2743200"/>
          </a:xfrm>
          <a:prstGeom prst="ellipse">
            <a:avLst/>
          </a:prstGeom>
          <a:solidFill>
            <a:srgbClr val="8AAABB">
              <a:alpha val="10000"/>
            </a:srgbClr>
          </a:solidFill>
          <a:ln w="12700">
            <a:solidFill>
              <a:srgbClr val="8AAAB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594360" y="1005840"/>
            <a:ext cx="2377440" cy="310896"/>
          </a:xfrm>
          <a:prstGeom prst="rect">
            <a:avLst/>
          </a:prstGeom>
          <a:solidFill>
            <a:srgbClr val="C9A84C">
              <a:alpha val="20000"/>
            </a:srgbClr>
          </a:solidFill>
          <a:ln w="6350">
            <a:solidFill>
              <a:srgbClr val="C9A84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594360" y="1024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STUDENT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594360" y="2176272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E8C8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594360" y="2907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i="1" dirty="0">
                <a:solidFill>
                  <a:srgbClr val="8AA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94360" y="35661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Statistical-Based  ·  Density-Based  ·  With Real Business Examples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41E28"/>
          </a:solidFill>
          <a:ln w="12700">
            <a:solidFill>
              <a:srgbClr val="141E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4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Methods  ·  MBA Perspective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64008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Anomaly Detection?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unusual in business data — before it becomes a crisis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2802"/>
          </a:xfrm>
          <a:prstGeom prst="rect">
            <a:avLst/>
          </a:prstGeom>
          <a:solidFill>
            <a:srgbClr val="DDE3E9"/>
          </a:solidFill>
          <a:ln w="1270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74980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64008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Automatically spotting data points that are abnormal — transactions, customers, employees, or operations that behave very differently from the norm.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2651760" cy="2697480"/>
          </a:xfrm>
          <a:prstGeom prst="rect">
            <a:avLst/>
          </a:prstGeom>
          <a:solidFill>
            <a:srgbClr val="F8F7F4"/>
          </a:solidFill>
          <a:ln w="635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265176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585216" y="20848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115568" y="210312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15568" y="234086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Detection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" y="2670048"/>
            <a:ext cx="23957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who spends ₹800/day suddenly makes a ₹1,20,000 transaction from an overseas location at 3 AM.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Bank flags it instantly.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993392"/>
            <a:ext cx="2651760" cy="2697480"/>
          </a:xfrm>
          <a:prstGeom prst="rect">
            <a:avLst/>
          </a:prstGeom>
          <a:solidFill>
            <a:srgbClr val="F8F7F4"/>
          </a:solidFill>
          <a:ln w="635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Shape 14"/>
          <p:cNvSpPr/>
          <p:nvPr/>
        </p:nvSpPr>
        <p:spPr>
          <a:xfrm>
            <a:off x="3246120" y="1993392"/>
            <a:ext cx="265176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3374136" y="20848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904488" y="210312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04488" y="234086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74136" y="2670048"/>
            <a:ext cx="23957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supplier who normally delivers in 3 days suddenly takes 30 days, and order sizes drop by 90%.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Procurement team alerted.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993392"/>
            <a:ext cx="2651760" cy="2697480"/>
          </a:xfrm>
          <a:prstGeom prst="rect">
            <a:avLst/>
          </a:prstGeom>
          <a:solidFill>
            <a:srgbClr val="F8F7F4"/>
          </a:solidFill>
          <a:ln w="635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Shape 20"/>
          <p:cNvSpPr/>
          <p:nvPr/>
        </p:nvSpPr>
        <p:spPr>
          <a:xfrm>
            <a:off x="6035040" y="1993392"/>
            <a:ext cx="265176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/>
          <p:nvPr/>
        </p:nvSpPr>
        <p:spPr>
          <a:xfrm>
            <a:off x="6163056" y="20848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693408" y="210312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93408" y="234086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Risk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63056" y="2670048"/>
            <a:ext cx="23957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who accesses 5 files/day suddenly downloads 2,000 files in one night before their notice period ends.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 security notified.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BF0F5"/>
          </a:solidFill>
          <a:ln w="1270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8" name="Text 26"/>
          <p:cNvSpPr/>
          <p:nvPr/>
        </p:nvSpPr>
        <p:spPr>
          <a:xfrm>
            <a:off x="457200" y="4974336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503920" y="4974336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5669280" y="-457200"/>
            <a:ext cx="4572000" cy="4572000"/>
          </a:xfrm>
          <a:prstGeom prst="ellipse">
            <a:avLst/>
          </a:prstGeom>
          <a:solidFill>
            <a:srgbClr val="C9A84C">
              <a:alpha val="8000"/>
            </a:srgbClr>
          </a:solidFill>
          <a:ln w="12700">
            <a:solidFill>
              <a:srgbClr val="C9A84C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-548640" y="3200400"/>
            <a:ext cx="3200400" cy="3200400"/>
          </a:xfrm>
          <a:prstGeom prst="ellipse">
            <a:avLst/>
          </a:prstGeom>
          <a:solidFill>
            <a:srgbClr val="8AAABB">
              <a:alpha val="8000"/>
            </a:srgbClr>
          </a:solidFill>
          <a:ln w="12700">
            <a:solidFill>
              <a:srgbClr val="8AAAB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Statistical-Based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E8C8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40080" y="290779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averages, spread, and probability to find data that doesn't fit the expected pattern.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1508760" cy="329184"/>
          </a:xfrm>
          <a:prstGeom prst="rect">
            <a:avLst/>
          </a:prstGeom>
          <a:solidFill>
            <a:srgbClr val="C9A84C">
              <a:alpha val="16000"/>
            </a:srgbClr>
          </a:solidFill>
          <a:ln w="6350">
            <a:solidFill>
              <a:srgbClr val="C9A84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640080" y="344728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22576" y="3429000"/>
            <a:ext cx="1508760" cy="329184"/>
          </a:xfrm>
          <a:prstGeom prst="rect">
            <a:avLst/>
          </a:prstGeom>
          <a:solidFill>
            <a:srgbClr val="C9A84C">
              <a:alpha val="16000"/>
            </a:srgbClr>
          </a:solidFill>
          <a:ln w="6350">
            <a:solidFill>
              <a:srgbClr val="C9A84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2322576" y="344728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05072" y="3429000"/>
            <a:ext cx="1508760" cy="329184"/>
          </a:xfrm>
          <a:prstGeom prst="rect">
            <a:avLst/>
          </a:prstGeom>
          <a:solidFill>
            <a:srgbClr val="C9A84C">
              <a:alpha val="16000"/>
            </a:srgbClr>
          </a:solidFill>
          <a:ln w="6350">
            <a:solidFill>
              <a:srgbClr val="C9A84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4005072" y="344728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Grubbs' Test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87568" y="3429000"/>
            <a:ext cx="1508760" cy="329184"/>
          </a:xfrm>
          <a:prstGeom prst="rect">
            <a:avLst/>
          </a:prstGeom>
          <a:solidFill>
            <a:srgbClr val="C9A84C">
              <a:alpha val="16000"/>
            </a:srgbClr>
          </a:solidFill>
          <a:ln w="6350">
            <a:solidFill>
              <a:srgbClr val="C9A84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5687568" y="344728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70064" y="3429000"/>
            <a:ext cx="1508760" cy="329184"/>
          </a:xfrm>
          <a:prstGeom prst="rect">
            <a:avLst/>
          </a:prstGeom>
          <a:solidFill>
            <a:srgbClr val="C9A84C">
              <a:alpha val="16000"/>
            </a:srgbClr>
          </a:solidFill>
          <a:ln w="6350">
            <a:solidFill>
              <a:srgbClr val="C9A84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7370064" y="344728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64008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Z-Score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Method 01  ·  How far is this value from the average?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2802"/>
          </a:xfrm>
          <a:prstGeom prst="rect">
            <a:avLst/>
          </a:prstGeom>
          <a:solidFill>
            <a:srgbClr val="DDE3E9"/>
          </a:solidFill>
          <a:ln w="1270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measures how many standard deviations a value is from the mean. If a business metric is too far from normal, it is flagged as an anomaly.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931920" cy="62179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8C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 =  (x − μ)  /  σ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57200" y="28712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observed value    μ = average    σ = std deviation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145536"/>
            <a:ext cx="3931920" cy="384048"/>
          </a:xfrm>
          <a:prstGeom prst="rect">
            <a:avLst/>
          </a:prstGeom>
          <a:solidFill>
            <a:srgbClr val="FDF3DC"/>
          </a:solidFill>
          <a:ln w="10160">
            <a:solidFill>
              <a:srgbClr val="E8C87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59436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 |Z| &gt; 3  →  Flag as anomaly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in business: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Monitor sales team KPIs each month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Flag unusual expense claims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Detect abnormal customer transaction amounts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1115568"/>
            <a:ext cx="0" cy="3611880"/>
          </a:xfrm>
          <a:prstGeom prst="line">
            <a:avLst/>
          </a:prstGeom>
          <a:noFill/>
          <a:ln w="1270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480060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💼  Sales Team Performance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148132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of 5 sales reps (₹ Lakhs):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1755648"/>
            <a:ext cx="1261872" cy="621792"/>
          </a:xfrm>
          <a:prstGeom prst="rect">
            <a:avLst/>
          </a:prstGeom>
          <a:solidFill>
            <a:srgbClr val="EBF0F5"/>
          </a:solidFill>
          <a:ln w="889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4800600" y="181051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2011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₹42L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190488" y="1755648"/>
            <a:ext cx="1261872" cy="621792"/>
          </a:xfrm>
          <a:prstGeom prst="rect">
            <a:avLst/>
          </a:prstGeom>
          <a:solidFill>
            <a:srgbClr val="EBF0F5"/>
          </a:solidFill>
          <a:ln w="889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Text 22"/>
          <p:cNvSpPr/>
          <p:nvPr/>
        </p:nvSpPr>
        <p:spPr>
          <a:xfrm>
            <a:off x="6190488" y="181051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90488" y="2011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₹38L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580376" y="1755648"/>
            <a:ext cx="1261872" cy="621792"/>
          </a:xfrm>
          <a:prstGeom prst="rect">
            <a:avLst/>
          </a:prstGeom>
          <a:solidFill>
            <a:srgbClr val="EBF0F5"/>
          </a:solidFill>
          <a:ln w="889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7" name="Text 25"/>
          <p:cNvSpPr/>
          <p:nvPr/>
        </p:nvSpPr>
        <p:spPr>
          <a:xfrm>
            <a:off x="7580376" y="181051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Meena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80376" y="2011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₹45L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800600" y="2505456"/>
            <a:ext cx="1261872" cy="621792"/>
          </a:xfrm>
          <a:prstGeom prst="rect">
            <a:avLst/>
          </a:prstGeom>
          <a:solidFill>
            <a:srgbClr val="EBF0F5"/>
          </a:solidFill>
          <a:ln w="889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0" name="Text 28"/>
          <p:cNvSpPr/>
          <p:nvPr/>
        </p:nvSpPr>
        <p:spPr>
          <a:xfrm>
            <a:off x="4800600" y="25603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276148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₹40L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190488" y="2505456"/>
            <a:ext cx="1261872" cy="621792"/>
          </a:xfrm>
          <a:prstGeom prst="rect">
            <a:avLst/>
          </a:prstGeom>
          <a:solidFill>
            <a:srgbClr val="FDECEA"/>
          </a:solidFill>
          <a:ln w="889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Text 31"/>
          <p:cNvSpPr/>
          <p:nvPr/>
        </p:nvSpPr>
        <p:spPr>
          <a:xfrm>
            <a:off x="6190488" y="25603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90488" y="276148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₹4L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67728" y="25786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Dev: Anomaly!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00600" y="332841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(μ) = ₹41L     Std Dev (σ) = 3L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3602736"/>
            <a:ext cx="4023360" cy="365760"/>
          </a:xfrm>
          <a:prstGeom prst="rect">
            <a:avLst/>
          </a:prstGeom>
          <a:solidFill>
            <a:srgbClr val="EBF0F5"/>
          </a:solidFill>
          <a:ln w="635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8" name="Text 36"/>
          <p:cNvSpPr/>
          <p:nvPr/>
        </p:nvSpPr>
        <p:spPr>
          <a:xfrm>
            <a:off x="4919472" y="3639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1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for Priya (42):  (42−41)/3 = +0.33  ✓ Normal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4041648"/>
            <a:ext cx="4023360" cy="365760"/>
          </a:xfrm>
          <a:prstGeom prst="rect">
            <a:avLst/>
          </a:prstGeom>
          <a:solidFill>
            <a:srgbClr val="FDECEA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0" name="Text 38"/>
          <p:cNvSpPr/>
          <p:nvPr/>
        </p:nvSpPr>
        <p:spPr>
          <a:xfrm>
            <a:off x="4919472" y="40782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for Dev   (4):   (4 −41)/3 = −12.3  ✗ ANOMALY!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00600" y="453542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Dev's ₹4L vs team average ₹41L → Z = −12.3. Possible data error or performance issue — HR should investigate immediately.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BF0F5"/>
          </a:solidFill>
          <a:ln w="1270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3" name="Text 41"/>
          <p:cNvSpPr/>
          <p:nvPr/>
        </p:nvSpPr>
        <p:spPr>
          <a:xfrm>
            <a:off x="457200" y="4974336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503920" y="4974336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64008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IQR — Interquartile Range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Method 02  ·  Identify outliers using the middle 50% of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2802"/>
          </a:xfrm>
          <a:prstGeom prst="rect">
            <a:avLst/>
          </a:prstGeom>
          <a:solidFill>
            <a:srgbClr val="DDE3E9"/>
          </a:solidFill>
          <a:ln w="1270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into 4 equal quarters. IQR is the range of the middle 50%. Values beyond the fences are flagged as outliers — no distribution assumption needed.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3931920" cy="74980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548640" y="2350008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  =  Q3 − Q1
</a:t>
            </a:r>
            <a:r>
              <a:rPr lang="en-US" sz="1300" dirty="0">
                <a:solidFill>
                  <a:srgbClr val="A0C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 fence  =  Q3 + 1.5 × IQR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90672"/>
            <a:ext cx="3931920" cy="347472"/>
          </a:xfrm>
          <a:prstGeom prst="rect">
            <a:avLst/>
          </a:prstGeom>
          <a:solidFill>
            <a:srgbClr val="E6F5ED"/>
          </a:solidFill>
          <a:ln w="10160">
            <a:solidFill>
              <a:srgbClr val="1D7A4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594360" y="31455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distribution assumption — great for any business metric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(visual of IQR):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4041648"/>
            <a:ext cx="3520440" cy="0"/>
          </a:xfrm>
          <a:prstGeom prst="line">
            <a:avLst/>
          </a:prstGeom>
          <a:noFill/>
          <a:ln w="2286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Shape 12"/>
          <p:cNvSpPr/>
          <p:nvPr/>
        </p:nvSpPr>
        <p:spPr>
          <a:xfrm>
            <a:off x="1371600" y="3858768"/>
            <a:ext cx="1828800" cy="384048"/>
          </a:xfrm>
          <a:prstGeom prst="rect">
            <a:avLst/>
          </a:prstGeom>
          <a:solidFill>
            <a:srgbClr val="DCF0E8"/>
          </a:solidFill>
          <a:ln w="17780">
            <a:solidFill>
              <a:srgbClr val="1D7A4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Shape 13"/>
          <p:cNvSpPr/>
          <p:nvPr/>
        </p:nvSpPr>
        <p:spPr>
          <a:xfrm>
            <a:off x="2286000" y="3858768"/>
            <a:ext cx="0" cy="384048"/>
          </a:xfrm>
          <a:prstGeom prst="line">
            <a:avLst/>
          </a:prstGeom>
          <a:noFill/>
          <a:ln w="2794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Shape 14"/>
          <p:cNvSpPr/>
          <p:nvPr/>
        </p:nvSpPr>
        <p:spPr>
          <a:xfrm>
            <a:off x="3977640" y="3931920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1316736" y="426110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084832" y="42611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163824" y="426110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913632" y="42611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617720" y="1115568"/>
            <a:ext cx="0" cy="3611880"/>
          </a:xfrm>
          <a:prstGeom prst="line">
            <a:avLst/>
          </a:prstGeom>
          <a:noFill/>
          <a:ln w="1270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480060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🏪  Retail Store Daily Sales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148132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 (₹ Thousands) across 8 days: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17373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18, 22, 20, 24, 19, 21, 23,  185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44132" y="1751076"/>
            <a:ext cx="502918" cy="310896"/>
          </a:xfrm>
          <a:prstGeom prst="rect">
            <a:avLst/>
          </a:prstGeom>
          <a:solidFill>
            <a:srgbClr val="FDECE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6" name="Text 24"/>
          <p:cNvSpPr/>
          <p:nvPr/>
        </p:nvSpPr>
        <p:spPr>
          <a:xfrm>
            <a:off x="8311895" y="182018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odd?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2139696"/>
            <a:ext cx="4023360" cy="347472"/>
          </a:xfrm>
          <a:prstGeom prst="rect">
            <a:avLst/>
          </a:prstGeom>
          <a:solidFill>
            <a:srgbClr val="EBF0F5"/>
          </a:solidFill>
          <a:ln w="508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8" name="Text 26"/>
          <p:cNvSpPr/>
          <p:nvPr/>
        </p:nvSpPr>
        <p:spPr>
          <a:xfrm>
            <a:off x="4919472" y="21762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1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= 19,   Q3 = 23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2542032"/>
            <a:ext cx="4023360" cy="347472"/>
          </a:xfrm>
          <a:prstGeom prst="rect">
            <a:avLst/>
          </a:prstGeom>
          <a:solidFill>
            <a:srgbClr val="EBF0F5"/>
          </a:solidFill>
          <a:ln w="508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0" name="Text 28"/>
          <p:cNvSpPr/>
          <p:nvPr/>
        </p:nvSpPr>
        <p:spPr>
          <a:xfrm>
            <a:off x="4919472" y="2578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1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 = 23 − 19 = 4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2944368"/>
            <a:ext cx="4023360" cy="347472"/>
          </a:xfrm>
          <a:prstGeom prst="rect">
            <a:avLst/>
          </a:prstGeom>
          <a:solidFill>
            <a:srgbClr val="EBF0F5"/>
          </a:solidFill>
          <a:ln w="508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2" name="Text 30"/>
          <p:cNvSpPr/>
          <p:nvPr/>
        </p:nvSpPr>
        <p:spPr>
          <a:xfrm>
            <a:off x="4919472" y="2980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1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 fence = 23 + 1.5×4 = 29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00600" y="3346704"/>
            <a:ext cx="4023360" cy="347472"/>
          </a:xfrm>
          <a:prstGeom prst="rect">
            <a:avLst/>
          </a:prstGeom>
          <a:solidFill>
            <a:srgbClr val="FDECEA"/>
          </a:solidFill>
          <a:ln w="508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4" name="Text 32"/>
          <p:cNvSpPr/>
          <p:nvPr/>
        </p:nvSpPr>
        <p:spPr>
          <a:xfrm>
            <a:off x="4919472" y="3383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185 &gt; 29  →  ANOMALY! 🚨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0600" y="3785616"/>
            <a:ext cx="4023360" cy="896112"/>
          </a:xfrm>
          <a:prstGeom prst="rect">
            <a:avLst/>
          </a:prstGeom>
          <a:solidFill>
            <a:srgbClr val="FDF3DC"/>
          </a:solidFill>
          <a:ln w="10160">
            <a:solidFill>
              <a:srgbClr val="E8C87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6" name="Shape 34"/>
          <p:cNvSpPr/>
          <p:nvPr/>
        </p:nvSpPr>
        <p:spPr>
          <a:xfrm>
            <a:off x="4800600" y="3785616"/>
            <a:ext cx="64008" cy="8961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7" name="Text 35"/>
          <p:cNvSpPr/>
          <p:nvPr/>
        </p:nvSpPr>
        <p:spPr>
          <a:xfrm>
            <a:off x="4956048" y="38404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56048" y="407822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₹1,85,000 on a normal ₹20K day could mean a data entry error, bulk B2B order, or revenue fraud. Finance team should verify the transaction before reporting.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BF0F5"/>
          </a:solidFill>
          <a:ln w="1270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1" name="Text 39"/>
          <p:cNvSpPr/>
          <p:nvPr/>
        </p:nvSpPr>
        <p:spPr>
          <a:xfrm>
            <a:off x="8503920" y="4974336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64008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Grubbs' Test  &amp;  Chi-Square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Methods 03 &amp; 04  ·  Targeted outlier testing &amp; multi-variable anomalies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2802"/>
          </a:xfrm>
          <a:prstGeom prst="rect">
            <a:avLst/>
          </a:prstGeom>
          <a:solidFill>
            <a:srgbClr val="DDE3E9"/>
          </a:solidFill>
          <a:ln w="1270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206240" cy="3822192"/>
          </a:xfrm>
          <a:prstGeom prst="rect">
            <a:avLst/>
          </a:prstGeom>
          <a:solidFill>
            <a:srgbClr val="F8F7F4"/>
          </a:solidFill>
          <a:ln w="635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420624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03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Grubbs' Test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ONE extreme outlier?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Idea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2128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tests whether ONE specific value in your dataset is a statistically significant outlier. Gives a Yes/No answer with statistical confidence.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761488"/>
            <a:ext cx="3931920" cy="32918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548640" y="27980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C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max|xᵢ − x̄| / 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1455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 Expense Reports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346704"/>
            <a:ext cx="3931920" cy="1389888"/>
          </a:xfrm>
          <a:prstGeom prst="rect">
            <a:avLst/>
          </a:prstGeom>
          <a:solidFill>
            <a:srgbClr val="FFFFFF"/>
          </a:solidFill>
          <a:ln w="508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621792" y="3401568"/>
            <a:ext cx="37856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of 8 managers submits monthly expense claims: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₹12K, ₹15K, ₹11K, ₹14K, ₹13K, ₹10K, ₹12K, ₹1,45,000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Grubbs flags ₹1,45,000 as a statistically significant outlier.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CFO launches an expense audit immediately.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1115568"/>
            <a:ext cx="4206240" cy="3822192"/>
          </a:xfrm>
          <a:prstGeom prst="rect">
            <a:avLst/>
          </a:prstGeom>
          <a:solidFill>
            <a:srgbClr val="F8F7F4"/>
          </a:solidFill>
          <a:ln w="635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Shape 17"/>
          <p:cNvSpPr/>
          <p:nvPr/>
        </p:nvSpPr>
        <p:spPr>
          <a:xfrm>
            <a:off x="4800600" y="1115568"/>
            <a:ext cx="4206240" cy="41148"/>
          </a:xfrm>
          <a:prstGeom prst="rect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4983480" y="11887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04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8348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Chi-Square Test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983480" y="17373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combination of values?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20116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Idea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83480" y="22128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anomalies when MULTIPLE features together look suspicious — even if each individual value seems normal on its own.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83480" y="2761488"/>
            <a:ext cx="3931920" cy="32918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6" name="Text 24"/>
          <p:cNvSpPr/>
          <p:nvPr/>
        </p:nvSpPr>
        <p:spPr>
          <a:xfrm>
            <a:off x="4983480" y="27980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C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χ² = (x−μ)ᵀ Σ⁻¹ (x−μ)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31455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Loan Application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83480" y="3346704"/>
            <a:ext cx="3931920" cy="1389888"/>
          </a:xfrm>
          <a:prstGeom prst="rect">
            <a:avLst/>
          </a:prstGeom>
          <a:solidFill>
            <a:srgbClr val="FFFFFF"/>
          </a:solidFill>
          <a:ln w="508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9" name="Text 27"/>
          <p:cNvSpPr/>
          <p:nvPr/>
        </p:nvSpPr>
        <p:spPr>
          <a:xfrm>
            <a:off x="5056632" y="3401568"/>
            <a:ext cx="37856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loan applicant shows: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Age: 22  • Income: ₹4,000/month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Loan request: ₹50,00,000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value alone may exist — but this combination is statistically near-impossible.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Bank fraud engine flags the application.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BF0F5"/>
          </a:solidFill>
          <a:ln w="1270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Text 29"/>
          <p:cNvSpPr/>
          <p:nvPr/>
        </p:nvSpPr>
        <p:spPr>
          <a:xfrm>
            <a:off x="457200" y="4974336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503920" y="4974336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64008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 Mixture Model (GMM)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Method 05  ·  When your data has multiple natural groups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2802"/>
          </a:xfrm>
          <a:prstGeom prst="rect">
            <a:avLst/>
          </a:prstGeom>
          <a:solidFill>
            <a:srgbClr val="DDE3E9"/>
          </a:solidFill>
          <a:ln w="1270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learns that data naturally forms several clusters. It assigns each data point a probability of belonging to a cluster. Points with very LOW probability under any cluster = anomaly.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40864"/>
            <a:ext cx="3931920" cy="62179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502920" y="24505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= Σ πₖ · 𝒩(x | μₖ, Σₖ)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p(x)  →  Doesn't fit any cluster  →  Anomaly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310128"/>
            <a:ext cx="3931920" cy="347472"/>
          </a:xfrm>
          <a:prstGeom prst="rect">
            <a:avLst/>
          </a:prstGeom>
          <a:solidFill>
            <a:srgbClr val="FDF3DC"/>
          </a:solidFill>
          <a:ln w="10160">
            <a:solidFill>
              <a:srgbClr val="E8C87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594360" y="33649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Better than Z-Score: different benchmarks for different customer types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better than Z-Score here?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uses one average for everyone. GMM knows ₹50L salary is normal for a CXO but abnormal for a junior analyst — different groups get different benchmarks.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115568"/>
            <a:ext cx="0" cy="3611880"/>
          </a:xfrm>
          <a:prstGeom prst="line">
            <a:avLst/>
          </a:prstGeom>
          <a:noFill/>
          <a:ln w="1270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480060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🏦  Bank AML Detection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148132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learns 3 natural customer clusters: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1773936"/>
            <a:ext cx="4023360" cy="475488"/>
          </a:xfrm>
          <a:prstGeom prst="rect">
            <a:avLst/>
          </a:prstGeom>
          <a:solidFill>
            <a:srgbClr val="EBF0F5"/>
          </a:solidFill>
          <a:ln w="762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Shape 17"/>
          <p:cNvSpPr/>
          <p:nvPr/>
        </p:nvSpPr>
        <p:spPr>
          <a:xfrm>
            <a:off x="4800600" y="1773936"/>
            <a:ext cx="64008" cy="475488"/>
          </a:xfrm>
          <a:prstGeom prst="rect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4937760" y="1828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0482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spend: ₹5K–15K / month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0" y="2322576"/>
            <a:ext cx="4023360" cy="475488"/>
          </a:xfrm>
          <a:prstGeom prst="rect">
            <a:avLst/>
          </a:prstGeom>
          <a:solidFill>
            <a:srgbClr val="FDF3DC"/>
          </a:solidFill>
          <a:ln w="762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Shape 21"/>
          <p:cNvSpPr/>
          <p:nvPr/>
        </p:nvSpPr>
        <p:spPr>
          <a:xfrm>
            <a:off x="4800600" y="2322576"/>
            <a:ext cx="64008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Text 22"/>
          <p:cNvSpPr/>
          <p:nvPr/>
        </p:nvSpPr>
        <p:spPr>
          <a:xfrm>
            <a:off x="4937760" y="2377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2596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spend: ₹40K–80K / month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2871216"/>
            <a:ext cx="4023360" cy="475488"/>
          </a:xfrm>
          <a:prstGeom prst="rect">
            <a:avLst/>
          </a:prstGeom>
          <a:solidFill>
            <a:srgbClr val="E6F5ED"/>
          </a:solidFill>
          <a:ln w="7620">
            <a:solidFill>
              <a:srgbClr val="1D7A4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7" name="Shape 25"/>
          <p:cNvSpPr/>
          <p:nvPr/>
        </p:nvSpPr>
        <p:spPr>
          <a:xfrm>
            <a:off x="4800600" y="2871216"/>
            <a:ext cx="64008" cy="475488"/>
          </a:xfrm>
          <a:prstGeom prst="rect">
            <a:avLst/>
          </a:prstGeom>
          <a:solidFill>
            <a:srgbClr val="1D7A4F"/>
          </a:solidFill>
          <a:ln w="12700">
            <a:solidFill>
              <a:srgbClr val="1D7A4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8" name="Text 26"/>
          <p:cNvSpPr/>
          <p:nvPr/>
        </p:nvSpPr>
        <p:spPr>
          <a:xfrm>
            <a:off x="4937760" y="29260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HNI Clients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31455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spend: ₹2L–10L / month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3456432"/>
            <a:ext cx="4023360" cy="1170432"/>
          </a:xfrm>
          <a:prstGeom prst="rect">
            <a:avLst/>
          </a:prstGeom>
          <a:solidFill>
            <a:srgbClr val="FDECEA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Shape 29"/>
          <p:cNvSpPr/>
          <p:nvPr/>
        </p:nvSpPr>
        <p:spPr>
          <a:xfrm>
            <a:off x="4800600" y="3456432"/>
            <a:ext cx="64008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2" name="Text 30"/>
          <p:cNvSpPr/>
          <p:nvPr/>
        </p:nvSpPr>
        <p:spPr>
          <a:xfrm>
            <a:off x="4956048" y="35112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Anomaly Scenario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56048" y="376732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account suddenly spends ₹8,00,000 in one week — doesn't match the Student cluster OR any other cluster.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assigns near-zero probability to this pattern.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AML (Anti-Money Laundering) team is alerted!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BF0F5"/>
          </a:solidFill>
          <a:ln w="1270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5" name="Text 33"/>
          <p:cNvSpPr/>
          <p:nvPr/>
        </p:nvSpPr>
        <p:spPr>
          <a:xfrm>
            <a:off x="457200" y="4974336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503920" y="4974336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8AAABB">
              <a:alpha val="10000"/>
            </a:srgbClr>
          </a:solidFill>
          <a:ln w="12700">
            <a:solidFill>
              <a:srgbClr val="8AAABB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-548640" y="3200400"/>
            <a:ext cx="3200400" cy="3200400"/>
          </a:xfrm>
          <a:prstGeom prst="ellipse">
            <a:avLst/>
          </a:prstGeom>
          <a:solidFill>
            <a:srgbClr val="C9A84C">
              <a:alpha val="8000"/>
            </a:srgbClr>
          </a:solidFill>
          <a:ln w="12700">
            <a:solidFill>
              <a:srgbClr val="C9A84C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Density-Based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8AA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40080" y="290779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data point has very few similar neighbors, it stands alone — and that isolation signals an anomaly.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1508760" cy="329184"/>
          </a:xfrm>
          <a:prstGeom prst="rect">
            <a:avLst/>
          </a:prstGeom>
          <a:solidFill>
            <a:srgbClr val="8AAABB">
              <a:alpha val="16000"/>
            </a:srgbClr>
          </a:solidFill>
          <a:ln w="6350">
            <a:solidFill>
              <a:srgbClr val="8AAAB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640080" y="344728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22576" y="3429000"/>
            <a:ext cx="1508760" cy="329184"/>
          </a:xfrm>
          <a:prstGeom prst="rect">
            <a:avLst/>
          </a:prstGeom>
          <a:solidFill>
            <a:srgbClr val="8AAABB">
              <a:alpha val="16000"/>
            </a:srgbClr>
          </a:solidFill>
          <a:ln w="6350">
            <a:solidFill>
              <a:srgbClr val="8AAAB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2322576" y="344728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05072" y="3429000"/>
            <a:ext cx="1508760" cy="329184"/>
          </a:xfrm>
          <a:prstGeom prst="rect">
            <a:avLst/>
          </a:prstGeom>
          <a:solidFill>
            <a:srgbClr val="8AAABB">
              <a:alpha val="16000"/>
            </a:srgbClr>
          </a:solidFill>
          <a:ln w="6350">
            <a:solidFill>
              <a:srgbClr val="8AAAB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4005072" y="344728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87568" y="3429000"/>
            <a:ext cx="1508760" cy="329184"/>
          </a:xfrm>
          <a:prstGeom prst="rect">
            <a:avLst/>
          </a:prstGeom>
          <a:solidFill>
            <a:srgbClr val="8AAABB">
              <a:alpha val="16000"/>
            </a:srgbClr>
          </a:solidFill>
          <a:ln w="6350">
            <a:solidFill>
              <a:srgbClr val="8AAAB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5687568" y="344728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70064" y="3429000"/>
            <a:ext cx="1508760" cy="329184"/>
          </a:xfrm>
          <a:prstGeom prst="rect">
            <a:avLst/>
          </a:prstGeom>
          <a:solidFill>
            <a:srgbClr val="8AAABB">
              <a:alpha val="16000"/>
            </a:srgbClr>
          </a:solidFill>
          <a:ln w="6350">
            <a:solidFill>
              <a:srgbClr val="8AAAB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7370064" y="344728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64008" cy="621792"/>
          </a:xfrm>
          <a:prstGeom prst="rect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LOF — Local Outlier Factor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Method 01  ·  Is this customer behaving like their peers?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2802"/>
          </a:xfrm>
          <a:prstGeom prst="rect">
            <a:avLst/>
          </a:prstGeom>
          <a:solidFill>
            <a:srgbClr val="DDE3E9"/>
          </a:solidFill>
          <a:ln w="1270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A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 compares how densely a data point is surrounded by neighbors vs. how dense those neighbors' neighborhoods are. A lonely point in a crowded world = anomaly.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3931920" cy="5303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AA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LOF ≈ 1  →  Normal     LOF &gt;&gt; 1  →  Anomaly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712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163824"/>
            <a:ext cx="256032" cy="256032"/>
          </a:xfrm>
          <a:prstGeom prst="ellipse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457200" y="317296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31821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k nearest neighbors (similar transactions/customers)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256032" cy="256032"/>
          </a:xfrm>
          <a:prstGeom prst="ellipse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457200" y="357530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35844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density of each neighbor's area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968496"/>
            <a:ext cx="256032" cy="256032"/>
          </a:xfrm>
          <a:prstGeom prst="ellipse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39867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this point's density to its neighbors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370832"/>
            <a:ext cx="256032" cy="256032"/>
          </a:xfrm>
          <a:prstGeom prst="ellipse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457200" y="437997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43891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relative density → point is isolated → anomaly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1122602"/>
            <a:ext cx="0" cy="3611880"/>
          </a:xfrm>
          <a:prstGeom prst="line">
            <a:avLst/>
          </a:prstGeom>
          <a:noFill/>
          <a:ln w="1270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Text 22"/>
          <p:cNvSpPr/>
          <p:nvPr/>
        </p:nvSpPr>
        <p:spPr>
          <a:xfrm>
            <a:off x="480060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A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💳  Credit Card Fraud Detection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148132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vs. peer group transaction patterns: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21701" y="1691640"/>
            <a:ext cx="868680" cy="868680"/>
          </a:xfrm>
          <a:prstGeom prst="ellipse">
            <a:avLst/>
          </a:prstGeom>
          <a:solidFill>
            <a:srgbClr val="EBF0F5"/>
          </a:solidFill>
          <a:ln w="10160">
            <a:solidFill>
              <a:srgbClr val="8AAAB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7" name="Shape 25"/>
          <p:cNvSpPr/>
          <p:nvPr/>
        </p:nvSpPr>
        <p:spPr>
          <a:xfrm>
            <a:off x="6329055" y="1711686"/>
            <a:ext cx="822960" cy="822960"/>
          </a:xfrm>
          <a:prstGeom prst="ellipse">
            <a:avLst/>
          </a:prstGeom>
          <a:solidFill>
            <a:srgbClr val="EBF0F5"/>
          </a:solidFill>
          <a:ln w="10160">
            <a:solidFill>
              <a:srgbClr val="8AAAB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8" name="Shape 26"/>
          <p:cNvSpPr/>
          <p:nvPr/>
        </p:nvSpPr>
        <p:spPr>
          <a:xfrm>
            <a:off x="5029200" y="1874520"/>
            <a:ext cx="146304" cy="146304"/>
          </a:xfrm>
          <a:prstGeom prst="ellipse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9" name="Shape 27"/>
          <p:cNvSpPr/>
          <p:nvPr/>
        </p:nvSpPr>
        <p:spPr>
          <a:xfrm>
            <a:off x="5230368" y="1783080"/>
            <a:ext cx="146304" cy="146304"/>
          </a:xfrm>
          <a:prstGeom prst="ellipse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0" name="Shape 28"/>
          <p:cNvSpPr/>
          <p:nvPr/>
        </p:nvSpPr>
        <p:spPr>
          <a:xfrm>
            <a:off x="5120640" y="2103120"/>
            <a:ext cx="146304" cy="146304"/>
          </a:xfrm>
          <a:prstGeom prst="ellipse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Shape 29"/>
          <p:cNvSpPr/>
          <p:nvPr/>
        </p:nvSpPr>
        <p:spPr>
          <a:xfrm>
            <a:off x="5349240" y="2029968"/>
            <a:ext cx="146304" cy="146304"/>
          </a:xfrm>
          <a:prstGeom prst="ellipse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2" name="Shape 30"/>
          <p:cNvSpPr/>
          <p:nvPr/>
        </p:nvSpPr>
        <p:spPr>
          <a:xfrm>
            <a:off x="5047488" y="2240280"/>
            <a:ext cx="146304" cy="146304"/>
          </a:xfrm>
          <a:prstGeom prst="ellipse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Shape 31"/>
          <p:cNvSpPr/>
          <p:nvPr/>
        </p:nvSpPr>
        <p:spPr>
          <a:xfrm>
            <a:off x="5285232" y="2194560"/>
            <a:ext cx="146304" cy="146304"/>
          </a:xfrm>
          <a:prstGeom prst="ellipse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4" name="Shape 32"/>
          <p:cNvSpPr/>
          <p:nvPr/>
        </p:nvSpPr>
        <p:spPr>
          <a:xfrm>
            <a:off x="6492240" y="1847088"/>
            <a:ext cx="146304" cy="146304"/>
          </a:xfrm>
          <a:prstGeom prst="ellipse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5" name="Shape 33"/>
          <p:cNvSpPr/>
          <p:nvPr/>
        </p:nvSpPr>
        <p:spPr>
          <a:xfrm>
            <a:off x="6675120" y="1773936"/>
            <a:ext cx="146304" cy="146304"/>
          </a:xfrm>
          <a:prstGeom prst="ellipse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6" name="Shape 34"/>
          <p:cNvSpPr/>
          <p:nvPr/>
        </p:nvSpPr>
        <p:spPr>
          <a:xfrm>
            <a:off x="6583680" y="2084832"/>
            <a:ext cx="146304" cy="146304"/>
          </a:xfrm>
          <a:prstGeom prst="ellipse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7" name="Shape 35"/>
          <p:cNvSpPr/>
          <p:nvPr/>
        </p:nvSpPr>
        <p:spPr>
          <a:xfrm>
            <a:off x="6812280" y="2011680"/>
            <a:ext cx="146304" cy="146304"/>
          </a:xfrm>
          <a:prstGeom prst="ellipse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8" name="Shape 36"/>
          <p:cNvSpPr/>
          <p:nvPr/>
        </p:nvSpPr>
        <p:spPr>
          <a:xfrm>
            <a:off x="6510528" y="2231136"/>
            <a:ext cx="146304" cy="146304"/>
          </a:xfrm>
          <a:prstGeom prst="ellipse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9" name="Shape 37"/>
          <p:cNvSpPr/>
          <p:nvPr/>
        </p:nvSpPr>
        <p:spPr>
          <a:xfrm>
            <a:off x="7242048" y="2907792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0" name="Text 38"/>
          <p:cNvSpPr/>
          <p:nvPr/>
        </p:nvSpPr>
        <p:spPr>
          <a:xfrm>
            <a:off x="7543799" y="2907792"/>
            <a:ext cx="10445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Isolated </a:t>
            </a:r>
            <a:r>
              <a:rPr lang="en-IN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91456" y="250545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txns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₹500–₹3K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309360" y="248716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group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income)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800600" y="3310128"/>
            <a:ext cx="4023360" cy="1353312"/>
          </a:xfrm>
          <a:prstGeom prst="rect">
            <a:avLst/>
          </a:prstGeom>
          <a:solidFill>
            <a:srgbClr val="FDF3DC"/>
          </a:solidFill>
          <a:ln w="10160">
            <a:solidFill>
              <a:srgbClr val="E8C87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4" name="Shape 42"/>
          <p:cNvSpPr/>
          <p:nvPr/>
        </p:nvSpPr>
        <p:spPr>
          <a:xfrm>
            <a:off x="4800600" y="3310128"/>
            <a:ext cx="64008" cy="13533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5" name="Text 43"/>
          <p:cNvSpPr/>
          <p:nvPr/>
        </p:nvSpPr>
        <p:spPr>
          <a:xfrm>
            <a:off x="4956048" y="33649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956048" y="3621024"/>
            <a:ext cx="3749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Priya's peers (same age, income, city) spend ₹500–3,000 per transaction. Priya makes one transaction of ₹95,000 at a jewellery store at midnight.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transaction sits far from all peer clusters.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 score &gt;&gt; 1  →  Bank's fraud team flags it for review.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BF0F5"/>
          </a:solidFill>
          <a:ln w="1270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8" name="Text 46"/>
          <p:cNvSpPr/>
          <p:nvPr/>
        </p:nvSpPr>
        <p:spPr>
          <a:xfrm>
            <a:off x="457200" y="4974336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503920" y="4974336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64008" cy="621792"/>
          </a:xfrm>
          <a:prstGeom prst="rect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Method 02  ·  Customers that don't belong to any known group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2802"/>
          </a:xfrm>
          <a:prstGeom prst="rect">
            <a:avLst/>
          </a:prstGeom>
          <a:solidFill>
            <a:srgbClr val="DDE3E9"/>
          </a:solidFill>
          <a:ln w="1270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A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finds natural clusters of dense data. Points too isolated to join any cluster are labelled NOISE — these are anomalies.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57984"/>
            <a:ext cx="3931920" cy="74980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566928" y="2249424"/>
            <a:ext cx="3712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AA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  </a:t>
            </a:r>
            <a:r>
              <a:rPr lang="en-US" sz="1200" dirty="0">
                <a:solidFill>
                  <a:srgbClr val="E8C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max distance to be a neighbor
</a:t>
            </a:r>
            <a:r>
              <a:rPr lang="en-US" sz="1200" b="1" dirty="0">
                <a:solidFill>
                  <a:srgbClr val="8AAA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MinPts  </a:t>
            </a:r>
            <a:r>
              <a:rPr lang="en-US" sz="1200" dirty="0">
                <a:solidFill>
                  <a:srgbClr val="E8C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min neighbors to form a cluster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99232"/>
            <a:ext cx="1234440" cy="713232"/>
          </a:xfrm>
          <a:prstGeom prst="rect">
            <a:avLst/>
          </a:prstGeom>
          <a:solidFill>
            <a:srgbClr val="EBF0F5"/>
          </a:solidFill>
          <a:ln w="889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457200" y="30540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" y="331012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enough — part of a cluster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792224" y="2999232"/>
            <a:ext cx="1234440" cy="713232"/>
          </a:xfrm>
          <a:prstGeom prst="rect">
            <a:avLst/>
          </a:prstGeom>
          <a:solidFill>
            <a:srgbClr val="FDF3DC"/>
          </a:solidFill>
          <a:ln w="889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1792224" y="30540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331012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a cluster edge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27248" y="2999232"/>
            <a:ext cx="1234440" cy="713232"/>
          </a:xfrm>
          <a:prstGeom prst="rect">
            <a:avLst/>
          </a:prstGeom>
          <a:solidFill>
            <a:srgbClr val="FDECEA"/>
          </a:solidFill>
          <a:ln w="889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3127248" y="30540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63824" y="331012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→ Anomaly!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17720" y="1115568"/>
            <a:ext cx="0" cy="3611880"/>
          </a:xfrm>
          <a:prstGeom prst="line">
            <a:avLst/>
          </a:prstGeom>
          <a:noFill/>
          <a:ln w="1270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480060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A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🛒  E-Commerce Customer Segmentation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148132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mapped by: order frequency vs. avg order value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1645920"/>
            <a:ext cx="786384" cy="749808"/>
          </a:xfrm>
          <a:prstGeom prst="ellipse">
            <a:avLst/>
          </a:prstGeom>
          <a:solidFill>
            <a:srgbClr val="EBF0F5"/>
          </a:solidFill>
          <a:ln w="10160">
            <a:solidFill>
              <a:srgbClr val="8AAAB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Shape 21"/>
          <p:cNvSpPr/>
          <p:nvPr/>
        </p:nvSpPr>
        <p:spPr>
          <a:xfrm>
            <a:off x="6359300" y="1659636"/>
            <a:ext cx="841248" cy="841248"/>
          </a:xfrm>
          <a:prstGeom prst="ellipse">
            <a:avLst/>
          </a:prstGeom>
          <a:solidFill>
            <a:srgbClr val="FDF3DC"/>
          </a:solidFill>
          <a:ln w="10160">
            <a:solidFill>
              <a:srgbClr val="C9A84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Shape 22"/>
          <p:cNvSpPr/>
          <p:nvPr/>
        </p:nvSpPr>
        <p:spPr>
          <a:xfrm>
            <a:off x="5486400" y="3063240"/>
            <a:ext cx="804672" cy="658368"/>
          </a:xfrm>
          <a:prstGeom prst="ellipse">
            <a:avLst/>
          </a:prstGeom>
          <a:solidFill>
            <a:srgbClr val="E6F5ED"/>
          </a:solidFill>
          <a:ln w="10160">
            <a:solidFill>
              <a:srgbClr val="1D7A4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Shape 23"/>
          <p:cNvSpPr/>
          <p:nvPr/>
        </p:nvSpPr>
        <p:spPr>
          <a:xfrm>
            <a:off x="5074920" y="1828800"/>
            <a:ext cx="137160" cy="137160"/>
          </a:xfrm>
          <a:prstGeom prst="ellipse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6" name="Shape 24"/>
          <p:cNvSpPr/>
          <p:nvPr/>
        </p:nvSpPr>
        <p:spPr>
          <a:xfrm>
            <a:off x="5285232" y="1755648"/>
            <a:ext cx="137160" cy="137160"/>
          </a:xfrm>
          <a:prstGeom prst="ellipse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7" name="Shape 25"/>
          <p:cNvSpPr/>
          <p:nvPr/>
        </p:nvSpPr>
        <p:spPr>
          <a:xfrm>
            <a:off x="5166360" y="2029968"/>
            <a:ext cx="137160" cy="137160"/>
          </a:xfrm>
          <a:prstGeom prst="ellipse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8" name="Shape 26"/>
          <p:cNvSpPr/>
          <p:nvPr/>
        </p:nvSpPr>
        <p:spPr>
          <a:xfrm>
            <a:off x="5394960" y="1965960"/>
            <a:ext cx="137160" cy="137160"/>
          </a:xfrm>
          <a:prstGeom prst="ellipse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9" name="Shape 27"/>
          <p:cNvSpPr/>
          <p:nvPr/>
        </p:nvSpPr>
        <p:spPr>
          <a:xfrm>
            <a:off x="5102352" y="2176272"/>
            <a:ext cx="137160" cy="137160"/>
          </a:xfrm>
          <a:prstGeom prst="ellipse">
            <a:avLst/>
          </a:prstGeom>
          <a:solidFill>
            <a:srgbClr val="8AAABB"/>
          </a:solidFill>
          <a:ln w="1270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0" name="Shape 28"/>
          <p:cNvSpPr/>
          <p:nvPr/>
        </p:nvSpPr>
        <p:spPr>
          <a:xfrm>
            <a:off x="6583680" y="1847088"/>
            <a:ext cx="137160" cy="1371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Shape 29"/>
          <p:cNvSpPr/>
          <p:nvPr/>
        </p:nvSpPr>
        <p:spPr>
          <a:xfrm>
            <a:off x="6784848" y="1773936"/>
            <a:ext cx="137160" cy="1371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2" name="Shape 30"/>
          <p:cNvSpPr/>
          <p:nvPr/>
        </p:nvSpPr>
        <p:spPr>
          <a:xfrm>
            <a:off x="6675120" y="2066544"/>
            <a:ext cx="137160" cy="1371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Shape 31"/>
          <p:cNvSpPr/>
          <p:nvPr/>
        </p:nvSpPr>
        <p:spPr>
          <a:xfrm>
            <a:off x="6903720" y="1993392"/>
            <a:ext cx="137160" cy="1371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4" name="Shape 32"/>
          <p:cNvSpPr/>
          <p:nvPr/>
        </p:nvSpPr>
        <p:spPr>
          <a:xfrm>
            <a:off x="6601968" y="2194560"/>
            <a:ext cx="137160" cy="1371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5" name="Shape 33"/>
          <p:cNvSpPr/>
          <p:nvPr/>
        </p:nvSpPr>
        <p:spPr>
          <a:xfrm>
            <a:off x="6839712" y="2139696"/>
            <a:ext cx="137160" cy="1371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6" name="Shape 34"/>
          <p:cNvSpPr/>
          <p:nvPr/>
        </p:nvSpPr>
        <p:spPr>
          <a:xfrm>
            <a:off x="5669280" y="3291840"/>
            <a:ext cx="137160" cy="137160"/>
          </a:xfrm>
          <a:prstGeom prst="ellipse">
            <a:avLst/>
          </a:prstGeom>
          <a:solidFill>
            <a:srgbClr val="1D7A4F"/>
          </a:solidFill>
          <a:ln w="12700">
            <a:solidFill>
              <a:srgbClr val="1D7A4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7" name="Shape 35"/>
          <p:cNvSpPr/>
          <p:nvPr/>
        </p:nvSpPr>
        <p:spPr>
          <a:xfrm>
            <a:off x="5870448" y="3218688"/>
            <a:ext cx="137160" cy="137160"/>
          </a:xfrm>
          <a:prstGeom prst="ellipse">
            <a:avLst/>
          </a:prstGeom>
          <a:solidFill>
            <a:srgbClr val="1D7A4F"/>
          </a:solidFill>
          <a:ln w="12700">
            <a:solidFill>
              <a:srgbClr val="1D7A4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8" name="Shape 36"/>
          <p:cNvSpPr/>
          <p:nvPr/>
        </p:nvSpPr>
        <p:spPr>
          <a:xfrm>
            <a:off x="5760720" y="3438144"/>
            <a:ext cx="137160" cy="137160"/>
          </a:xfrm>
          <a:prstGeom prst="ellipse">
            <a:avLst/>
          </a:prstGeom>
          <a:solidFill>
            <a:srgbClr val="1D7A4F"/>
          </a:solidFill>
          <a:ln w="12700">
            <a:solidFill>
              <a:srgbClr val="1D7A4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9" name="Shape 37"/>
          <p:cNvSpPr/>
          <p:nvPr/>
        </p:nvSpPr>
        <p:spPr>
          <a:xfrm>
            <a:off x="5961888" y="3364992"/>
            <a:ext cx="137160" cy="137160"/>
          </a:xfrm>
          <a:prstGeom prst="ellipse">
            <a:avLst/>
          </a:prstGeom>
          <a:solidFill>
            <a:srgbClr val="1D7A4F"/>
          </a:solidFill>
          <a:ln w="12700">
            <a:solidFill>
              <a:srgbClr val="1D7A4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0" name="Shape 38"/>
          <p:cNvSpPr/>
          <p:nvPr/>
        </p:nvSpPr>
        <p:spPr>
          <a:xfrm>
            <a:off x="7443217" y="1732788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1" name="Shape 39"/>
          <p:cNvSpPr/>
          <p:nvPr/>
        </p:nvSpPr>
        <p:spPr>
          <a:xfrm>
            <a:off x="7936992" y="3310128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2" name="Shape 40"/>
          <p:cNvSpPr/>
          <p:nvPr/>
        </p:nvSpPr>
        <p:spPr>
          <a:xfrm>
            <a:off x="4942332" y="3529584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3" name="Text 41"/>
          <p:cNvSpPr/>
          <p:nvPr/>
        </p:nvSpPr>
        <p:spPr>
          <a:xfrm>
            <a:off x="4892040" y="24505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400800" y="24505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559552" y="37124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680960" y="17190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Noise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810447" y="3986784"/>
            <a:ext cx="4023360" cy="676656"/>
          </a:xfrm>
          <a:prstGeom prst="rect">
            <a:avLst/>
          </a:prstGeom>
          <a:solidFill>
            <a:srgbClr val="FDECEA"/>
          </a:solidFill>
          <a:ln w="889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8" name="Shape 46"/>
          <p:cNvSpPr/>
          <p:nvPr/>
        </p:nvSpPr>
        <p:spPr>
          <a:xfrm>
            <a:off x="4800600" y="3986784"/>
            <a:ext cx="64008" cy="6766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9" name="Text 47"/>
          <p:cNvSpPr/>
          <p:nvPr/>
        </p:nvSpPr>
        <p:spPr>
          <a:xfrm>
            <a:off x="4956048" y="404164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dots don't fit any customer group → DBSCAN marks them as NOISE. These could be fake accounts, bots, or competitors scouting prices. Marketing excludes them; Security investigates.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BF0F5"/>
          </a:solidFill>
          <a:ln w="1270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1" name="Text 49"/>
          <p:cNvSpPr/>
          <p:nvPr/>
        </p:nvSpPr>
        <p:spPr>
          <a:xfrm>
            <a:off x="457200" y="4974336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503920" y="4974336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64008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vs Density-Based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should a manager choose?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2802"/>
          </a:xfrm>
          <a:prstGeom prst="rect">
            <a:avLst/>
          </a:prstGeom>
          <a:solidFill>
            <a:srgbClr val="DDE3E9"/>
          </a:solidFill>
          <a:ln w="1270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2606040" cy="384048"/>
          </a:xfrm>
          <a:prstGeom prst="rect">
            <a:avLst/>
          </a:prstGeom>
          <a:solidFill>
            <a:srgbClr val="1C2B3A"/>
          </a:solidFill>
          <a:ln w="635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566928" y="1170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86100" y="1115568"/>
            <a:ext cx="2651760" cy="384048"/>
          </a:xfrm>
          <a:prstGeom prst="rect">
            <a:avLst/>
          </a:prstGeom>
          <a:solidFill>
            <a:srgbClr val="FDF3DC"/>
          </a:solidFill>
          <a:ln w="6350">
            <a:solidFill>
              <a:srgbClr val="E8C87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3195828" y="11704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📐  Statistical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15000" y="1115568"/>
            <a:ext cx="2651760" cy="384048"/>
          </a:xfrm>
          <a:prstGeom prst="rect">
            <a:avLst/>
          </a:prstGeom>
          <a:solidFill>
            <a:srgbClr val="EBF0F5"/>
          </a:solidFill>
          <a:ln w="635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5824728" y="11704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🔵  Density-Based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536192"/>
            <a:ext cx="26060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566928" y="1572768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data distribution?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86100" y="1536192"/>
            <a:ext cx="26517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3195828" y="157276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assumes Gaussian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15000" y="1536192"/>
            <a:ext cx="26517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5824728" y="157276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works on any data shape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1938528"/>
            <a:ext cx="2606040" cy="384048"/>
          </a:xfrm>
          <a:prstGeom prst="rect">
            <a:avLst/>
          </a:prstGeom>
          <a:solidFill>
            <a:srgbClr val="F8F7F4"/>
          </a:solidFill>
          <a:ln w="381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566928" y="1975104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local anomalies?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86100" y="1938528"/>
            <a:ext cx="2651760" cy="384048"/>
          </a:xfrm>
          <a:prstGeom prst="rect">
            <a:avLst/>
          </a:prstGeom>
          <a:solidFill>
            <a:srgbClr val="F8F7F4"/>
          </a:solidFill>
          <a:ln w="381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3195828" y="197510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only global outliers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15000" y="1938528"/>
            <a:ext cx="2651760" cy="384048"/>
          </a:xfrm>
          <a:prstGeom prst="rect">
            <a:avLst/>
          </a:prstGeom>
          <a:solidFill>
            <a:srgbClr val="F8F7F4"/>
          </a:solidFill>
          <a:ln w="381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/>
          <p:nvPr/>
        </p:nvSpPr>
        <p:spPr>
          <a:xfrm>
            <a:off x="5824728" y="197510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local &amp; global both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340864"/>
            <a:ext cx="26060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Text 23"/>
          <p:cNvSpPr/>
          <p:nvPr/>
        </p:nvSpPr>
        <p:spPr>
          <a:xfrm>
            <a:off x="566928" y="237744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086100" y="2340864"/>
            <a:ext cx="26517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7" name="Text 25"/>
          <p:cNvSpPr/>
          <p:nvPr/>
        </p:nvSpPr>
        <p:spPr>
          <a:xfrm>
            <a:off x="3195828" y="237744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⚡  O(n)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15000" y="2340864"/>
            <a:ext cx="26517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9" name="Text 27"/>
          <p:cNvSpPr/>
          <p:nvPr/>
        </p:nvSpPr>
        <p:spPr>
          <a:xfrm>
            <a:off x="5824728" y="237744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🐢  O(n²)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2743200"/>
            <a:ext cx="2606040" cy="384048"/>
          </a:xfrm>
          <a:prstGeom prst="rect">
            <a:avLst/>
          </a:prstGeom>
          <a:solidFill>
            <a:srgbClr val="F8F7F4"/>
          </a:solidFill>
          <a:ln w="381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Text 29"/>
          <p:cNvSpPr/>
          <p:nvPr/>
        </p:nvSpPr>
        <p:spPr>
          <a:xfrm>
            <a:off x="566928" y="2779776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 use case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086100" y="2743200"/>
            <a:ext cx="2651760" cy="384048"/>
          </a:xfrm>
          <a:prstGeom prst="rect">
            <a:avLst/>
          </a:prstGeom>
          <a:solidFill>
            <a:srgbClr val="F8F7F4"/>
          </a:solidFill>
          <a:ln w="381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Text 31"/>
          <p:cNvSpPr/>
          <p:nvPr/>
        </p:nvSpPr>
        <p:spPr>
          <a:xfrm>
            <a:off x="3195828" y="277977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KPIs, HR, expense audits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15000" y="2743200"/>
            <a:ext cx="2651760" cy="384048"/>
          </a:xfrm>
          <a:prstGeom prst="rect">
            <a:avLst/>
          </a:prstGeom>
          <a:solidFill>
            <a:srgbClr val="F8F7F4"/>
          </a:solidFill>
          <a:ln w="381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5" name="Text 33"/>
          <p:cNvSpPr/>
          <p:nvPr/>
        </p:nvSpPr>
        <p:spPr>
          <a:xfrm>
            <a:off x="5824728" y="277977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segments, fraud clusters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145536"/>
            <a:ext cx="26060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7" name="Text 35"/>
          <p:cNvSpPr/>
          <p:nvPr/>
        </p:nvSpPr>
        <p:spPr>
          <a:xfrm>
            <a:off x="566928" y="3182112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example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086100" y="3145536"/>
            <a:ext cx="26517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9" name="Text 37"/>
          <p:cNvSpPr/>
          <p:nvPr/>
        </p:nvSpPr>
        <p:spPr>
          <a:xfrm>
            <a:off x="3195828" y="318211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 with Z = −12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715000" y="3145536"/>
            <a:ext cx="26517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1" name="Text 39"/>
          <p:cNvSpPr/>
          <p:nvPr/>
        </p:nvSpPr>
        <p:spPr>
          <a:xfrm>
            <a:off x="5824728" y="318211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that fits no segment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3547872"/>
            <a:ext cx="2606040" cy="384048"/>
          </a:xfrm>
          <a:prstGeom prst="rect">
            <a:avLst/>
          </a:prstGeom>
          <a:solidFill>
            <a:srgbClr val="F8F7F4"/>
          </a:solidFill>
          <a:ln w="381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3" name="Text 41"/>
          <p:cNvSpPr/>
          <p:nvPr/>
        </p:nvSpPr>
        <p:spPr>
          <a:xfrm>
            <a:off x="566928" y="3584448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086100" y="3547872"/>
            <a:ext cx="2651760" cy="384048"/>
          </a:xfrm>
          <a:prstGeom prst="rect">
            <a:avLst/>
          </a:prstGeom>
          <a:solidFill>
            <a:srgbClr val="F8F7F4"/>
          </a:solidFill>
          <a:ln w="381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5" name="Text 43"/>
          <p:cNvSpPr/>
          <p:nvPr/>
        </p:nvSpPr>
        <p:spPr>
          <a:xfrm>
            <a:off x="3195828" y="358444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 / p-value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715000" y="3547872"/>
            <a:ext cx="2651760" cy="384048"/>
          </a:xfrm>
          <a:prstGeom prst="rect">
            <a:avLst/>
          </a:prstGeom>
          <a:solidFill>
            <a:srgbClr val="F8F7F4"/>
          </a:solidFill>
          <a:ln w="381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7" name="Text 45"/>
          <p:cNvSpPr/>
          <p:nvPr/>
        </p:nvSpPr>
        <p:spPr>
          <a:xfrm>
            <a:off x="5824728" y="358444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 score / NOISE label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66928" y="3986784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1792" y="4700016"/>
            <a:ext cx="7909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BF0F5"/>
          </a:solidFill>
          <a:ln w="1270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8" name="Text 56"/>
          <p:cNvSpPr/>
          <p:nvPr/>
        </p:nvSpPr>
        <p:spPr>
          <a:xfrm>
            <a:off x="457200" y="4974336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503920" y="4974336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64008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Applications at a Glance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2802"/>
          </a:xfrm>
          <a:prstGeom prst="rect">
            <a:avLst/>
          </a:prstGeom>
          <a:solidFill>
            <a:srgbClr val="DDE3E9"/>
          </a:solidFill>
          <a:ln w="1270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822960"/>
          </a:xfrm>
          <a:prstGeom prst="rect">
            <a:avLst/>
          </a:prstGeom>
          <a:solidFill>
            <a:srgbClr val="F8F7F4"/>
          </a:solidFill>
          <a:ln w="508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64008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640080" y="12435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🏦  Finance &amp; Banking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572768"/>
            <a:ext cx="676656" cy="219456"/>
          </a:xfrm>
          <a:prstGeom prst="rect">
            <a:avLst/>
          </a:prstGeom>
          <a:solidFill>
            <a:srgbClr val="FDF3DC"/>
          </a:solidFill>
          <a:ln w="6350">
            <a:solidFill>
              <a:srgbClr val="E8C87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640080" y="1591056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371600" y="157276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on transaction amounts,  IQR on daily volumes,  GMM on customer profiles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21024" y="1572768"/>
            <a:ext cx="676656" cy="219456"/>
          </a:xfrm>
          <a:prstGeom prst="rect">
            <a:avLst/>
          </a:prstGeom>
          <a:solidFill>
            <a:srgbClr val="EBF0F5"/>
          </a:solidFill>
          <a:ln w="635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3621024" y="1591056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352544" y="1572768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 on peer-group spending patterns,  DBSCAN on transaction clusters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066544"/>
            <a:ext cx="8229600" cy="8229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Shape 14"/>
          <p:cNvSpPr/>
          <p:nvPr/>
        </p:nvSpPr>
        <p:spPr>
          <a:xfrm>
            <a:off x="457200" y="2066544"/>
            <a:ext cx="64008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640080" y="21396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📈  Marketing &amp; Sales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2468880"/>
            <a:ext cx="676656" cy="219456"/>
          </a:xfrm>
          <a:prstGeom prst="rect">
            <a:avLst/>
          </a:prstGeom>
          <a:solidFill>
            <a:srgbClr val="FDF3DC"/>
          </a:solidFill>
          <a:ln w="6350">
            <a:solidFill>
              <a:srgbClr val="E8C87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640080" y="248716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371600" y="2468880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on rep performance,  IQR on campaign ROI outliers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21024" y="2468880"/>
            <a:ext cx="676656" cy="219456"/>
          </a:xfrm>
          <a:prstGeom prst="rect">
            <a:avLst/>
          </a:prstGeom>
          <a:solidFill>
            <a:srgbClr val="EBF0F5"/>
          </a:solidFill>
          <a:ln w="635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3621024" y="248716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352544" y="2468880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for unusual customer segments,  LOF for single customer anomalies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962656"/>
            <a:ext cx="8229600" cy="822960"/>
          </a:xfrm>
          <a:prstGeom prst="rect">
            <a:avLst/>
          </a:prstGeom>
          <a:solidFill>
            <a:srgbClr val="F8F7F4"/>
          </a:solidFill>
          <a:ln w="508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Shape 23"/>
          <p:cNvSpPr/>
          <p:nvPr/>
        </p:nvSpPr>
        <p:spPr>
          <a:xfrm>
            <a:off x="457200" y="2962656"/>
            <a:ext cx="64008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6" name="Text 24"/>
          <p:cNvSpPr/>
          <p:nvPr/>
        </p:nvSpPr>
        <p:spPr>
          <a:xfrm>
            <a:off x="640080" y="3035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📦  Supply Chain &amp; Ops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3364992"/>
            <a:ext cx="676656" cy="219456"/>
          </a:xfrm>
          <a:prstGeom prst="rect">
            <a:avLst/>
          </a:prstGeom>
          <a:solidFill>
            <a:srgbClr val="FDF3DC"/>
          </a:solidFill>
          <a:ln w="6350">
            <a:solidFill>
              <a:srgbClr val="E8C87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8" name="Text 26"/>
          <p:cNvSpPr/>
          <p:nvPr/>
        </p:nvSpPr>
        <p:spPr>
          <a:xfrm>
            <a:off x="640080" y="3383280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371600" y="3364992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Grubbs' Test on delivery times,  IQR on order quantities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21024" y="3364992"/>
            <a:ext cx="676656" cy="219456"/>
          </a:xfrm>
          <a:prstGeom prst="rect">
            <a:avLst/>
          </a:prstGeom>
          <a:solidFill>
            <a:srgbClr val="EBF0F5"/>
          </a:solidFill>
          <a:ln w="635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Text 29"/>
          <p:cNvSpPr/>
          <p:nvPr/>
        </p:nvSpPr>
        <p:spPr>
          <a:xfrm>
            <a:off x="3621024" y="3383280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352544" y="3364992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 on supplier behaviour,  DBSCAN on warehouse location data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3858768"/>
            <a:ext cx="8229600" cy="8229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4" name="Shape 32"/>
          <p:cNvSpPr/>
          <p:nvPr/>
        </p:nvSpPr>
        <p:spPr>
          <a:xfrm>
            <a:off x="457200" y="3858768"/>
            <a:ext cx="64008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5" name="Text 33"/>
          <p:cNvSpPr/>
          <p:nvPr/>
        </p:nvSpPr>
        <p:spPr>
          <a:xfrm>
            <a:off x="64008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👥  HR &amp; Compliance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" y="4261104"/>
            <a:ext cx="676656" cy="219456"/>
          </a:xfrm>
          <a:prstGeom prst="rect">
            <a:avLst/>
          </a:prstGeom>
          <a:solidFill>
            <a:srgbClr val="FDF3DC"/>
          </a:solidFill>
          <a:ln w="6350">
            <a:solidFill>
              <a:srgbClr val="E8C87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7" name="Text 35"/>
          <p:cNvSpPr/>
          <p:nvPr/>
        </p:nvSpPr>
        <p:spPr>
          <a:xfrm>
            <a:off x="640080" y="427939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371600" y="4261104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on salary anomalies,  Grubbs' on expense claims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21024" y="4261104"/>
            <a:ext cx="676656" cy="219456"/>
          </a:xfrm>
          <a:prstGeom prst="rect">
            <a:avLst/>
          </a:prstGeom>
          <a:solidFill>
            <a:srgbClr val="EBF0F5"/>
          </a:solidFill>
          <a:ln w="6350">
            <a:solidFill>
              <a:srgbClr val="8AAAB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0" name="Text 38"/>
          <p:cNvSpPr/>
          <p:nvPr/>
        </p:nvSpPr>
        <p:spPr>
          <a:xfrm>
            <a:off x="3621024" y="427939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352544" y="4261104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 on access-log behaviour,  DBSCAN on employee activity clusters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BF0F5"/>
          </a:solidFill>
          <a:ln w="1270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3" name="Text 41"/>
          <p:cNvSpPr/>
          <p:nvPr/>
        </p:nvSpPr>
        <p:spPr>
          <a:xfrm>
            <a:off x="457200" y="4974336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503920" y="4974336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0DB758-DE7C-38B6-D6C2-ED410FFD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0">
            <a:extLst>
              <a:ext uri="{FF2B5EF4-FFF2-40B4-BE49-F238E27FC236}">
                <a16:creationId xmlns:a16="http://schemas.microsoft.com/office/drawing/2014/main" id="{47940921-A2B2-6099-7D07-E3FCB76C154B}"/>
              </a:ext>
            </a:extLst>
          </p:cNvPr>
          <p:cNvSpPr/>
          <p:nvPr/>
        </p:nvSpPr>
        <p:spPr>
          <a:xfrm>
            <a:off x="0" y="4951476"/>
            <a:ext cx="9144000" cy="182880"/>
          </a:xfrm>
          <a:prstGeom prst="rect">
            <a:avLst/>
          </a:prstGeom>
          <a:solidFill>
            <a:srgbClr val="EBF0F5"/>
          </a:solidFill>
          <a:ln w="12700">
            <a:solidFill>
              <a:srgbClr val="DDE3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FAFFAB8-6208-5BB8-5D61-FB63B0F7D279}"/>
              </a:ext>
            </a:extLst>
          </p:cNvPr>
          <p:cNvSpPr/>
          <p:nvPr/>
        </p:nvSpPr>
        <p:spPr>
          <a:xfrm>
            <a:off x="457200" y="4974336"/>
            <a:ext cx="7772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0BFBA289-3576-A1A3-2E25-280A2CC079EF}"/>
              </a:ext>
            </a:extLst>
          </p:cNvPr>
          <p:cNvSpPr/>
          <p:nvPr/>
        </p:nvSpPr>
        <p:spPr>
          <a:xfrm>
            <a:off x="8503920" y="4974336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0D60F48-98D9-2038-1BEB-AAD0E32BCCBB}"/>
              </a:ext>
            </a:extLst>
          </p:cNvPr>
          <p:cNvSpPr txBox="1"/>
          <p:nvPr/>
        </p:nvSpPr>
        <p:spPr>
          <a:xfrm>
            <a:off x="2282483" y="2285148"/>
            <a:ext cx="457903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641464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85437AE-D9A5-4A24-B89B-E46A6A86C3F3}">
  <we:reference id="wa200005566" version="3.0.0.3" store="en-US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1580</Words>
  <Application>Microsoft Office PowerPoint</Application>
  <PresentationFormat>On-screen Show (16:9)</PresentationFormat>
  <Paragraphs>252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ADLaM Display</vt:lpstr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Anomaly Detection — MBA Student Guide</dc:title>
  <dc:subject>PptxGenJS Presentation</dc:subject>
  <dc:creator>PptxGenJS</dc:creator>
  <cp:lastModifiedBy>gaurav nikam</cp:lastModifiedBy>
  <cp:revision>6</cp:revision>
  <dcterms:created xsi:type="dcterms:W3CDTF">2026-03-16T07:04:03Z</dcterms:created>
  <dcterms:modified xsi:type="dcterms:W3CDTF">2026-04-17T16:02:28Z</dcterms:modified>
</cp:coreProperties>
</file>